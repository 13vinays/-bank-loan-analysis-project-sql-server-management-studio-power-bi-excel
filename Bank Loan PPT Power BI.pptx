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73" r:id="rId3"/>
    <p:sldId id="269" r:id="rId4"/>
    <p:sldId id="270" r:id="rId5"/>
    <p:sldId id="271" r:id="rId6"/>
    <p:sldId id="256" r:id="rId7"/>
    <p:sldId id="257" r:id="rId8"/>
    <p:sldId id="258" r:id="rId9"/>
    <p:sldId id="261" r:id="rId10"/>
    <p:sldId id="262" r:id="rId11"/>
    <p:sldId id="263" r:id="rId12"/>
    <p:sldId id="264" r:id="rId13"/>
    <p:sldId id="25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CDBFA-3603-645A-9EB2-BF18E33B1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3B8327-55E4-1536-B4F6-FBD74A175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5BB0C-9460-BD86-EFB3-AB6659C26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C60DD-6F9A-8C55-2C9B-5C4E70AD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434C2-C539-549B-C05C-B98518AC5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9248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61F88-B833-1200-D3CF-EE837B0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8CB8E-71BD-E0B3-64CF-7417B33BC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AA232-E33E-8A21-389D-F57473CF3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C86FC-555E-1772-0A31-2E81D8C84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83072-3545-FC11-E0FE-8FC24CF2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655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7C800-8FF8-1209-480E-6D31FB4B1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770BE-4704-DD13-E41C-FDF47C5AC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B303D-4232-4156-EED1-1723C75B0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EFFC-4535-7746-363E-449CCC41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B1815-6E61-12F0-67C6-5391B7A7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21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973CA-2221-B6BA-247A-67888D17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66AE0-2950-2E07-2ADF-40ECF430F5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1802A0-C2B1-90B6-E2F4-4DA17A2E1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FC01AE-CCB7-63D9-CBBB-F645B0F4E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E62A61-4168-26CC-93B3-683820DD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4E477-B40D-8D3E-6DC2-1AC9B036F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0288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65982-7856-A120-897F-D70473069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D52EB-C6C9-14DB-C39F-05A13FAA7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939C4-C3A8-5DC6-5A03-4E06E5BD6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451D85-6826-075A-E2DD-716FBE57BE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A66085-DC5D-ED87-50D6-6609036B9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8002D5-A8B9-4663-693D-13244095A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5C1A38-7DB7-27B3-EE2B-0FA8A1EA1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C0E241-9EDE-42DD-B32D-8D7A2595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82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3C722-C2C3-AD81-3B33-252378421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7C2B20-69F1-93CB-4468-49A7AC79F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F5AEDF-21FC-20A9-A97C-010FF7361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A905B7-E5B8-FCA6-C612-AD126D9F0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290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5F24FB-A0D9-0867-6BDA-FAA10E8AF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28FC46-75DF-0D30-C8E5-88F2C536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C571C-B718-3EBF-2B95-85CEF876B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2041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56D2-DEB1-30AE-51E1-EE91F66CA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EAE68-FA8B-41E2-E3FB-36A46A15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C4BCD-7C3D-22E6-24BE-7467A7592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43662B-AE05-9268-0E56-CD679C6B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C6A849-17CD-A798-9990-6220B27F1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D7318-CA5C-54BF-3E83-9C376735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38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A8056-573E-5E0D-778E-4DE41CB98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09817-F19E-6A4F-5FF8-2F3D3AAF1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0419C-229C-2594-B804-6EA9008830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8213C-4F0F-7E55-13F1-BAAD40951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7548F3-EEE0-2CB0-0510-48D1CC2F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2A5B8-D47F-A235-0038-FCFC9CC90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69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C7D78-8517-28DA-A27A-D8FFDBD25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457C4-E215-0637-C3AF-8C3D1FCBF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02C78-9EFE-DF28-A614-944782ADB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652D1-928F-44A9-D700-AA5F4C04F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3B83E-DE60-62A4-DDC6-0166638EF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247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2510F1-7BC3-31D7-0266-19EAE7F797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19C68-55AF-AAF3-C65B-31A5C1D0E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AE636-CB51-D73D-DDB9-04342DEBA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BDAD9-6500-E41D-1CBB-7FC9126F6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68266-F247-C64C-3559-6A0C2444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688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916DC5-6480-E0BC-F1F7-D7E605F29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5A303-F574-AA86-3F6C-B592CDEE8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35D02-92E6-CE42-BFE8-8029C2A42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89A56-B7BF-4EE2-A684-7373F14AFF3B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0A4AE-F6D4-1200-163D-1FE1D2E81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A569D-EF3A-0E41-7F3B-0EDD07E67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05A8C5-EE7D-4E52-AF3E-16E9F1C18F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888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D37F5C-B498-7E9E-7268-B898BED7C5C1}"/>
              </a:ext>
            </a:extLst>
          </p:cNvPr>
          <p:cNvSpPr txBox="1"/>
          <p:nvPr/>
        </p:nvSpPr>
        <p:spPr>
          <a:xfrm>
            <a:off x="475491" y="3293972"/>
            <a:ext cx="110256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8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SQL SERVER MANAGEMENT STUDIO</a:t>
            </a:r>
            <a:endParaRPr lang="en-IN" sz="4800" dirty="0">
              <a:solidFill>
                <a:schemeClr val="accent5">
                  <a:lumMod val="20000"/>
                  <a:lumOff val="80000"/>
                </a:schemeClr>
              </a:solidFill>
              <a:latin typeface="Lato Black" panose="020F0A02020204030203" pitchFamily="34" charset="0"/>
            </a:endParaRPr>
          </a:p>
        </p:txBody>
      </p:sp>
      <p:pic>
        <p:nvPicPr>
          <p:cNvPr id="15" name="Picture 12" descr="Sql server - Free logo icons">
            <a:extLst>
              <a:ext uri="{FF2B5EF4-FFF2-40B4-BE49-F238E27FC236}">
                <a16:creationId xmlns:a16="http://schemas.microsoft.com/office/drawing/2014/main" id="{F41865F3-DE1B-AB07-633A-FDEB072AE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5406" y="4765145"/>
            <a:ext cx="1935214" cy="193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4" descr="Logo Mysql PNG Images, Free Download - Free Transparent PNG Logos">
            <a:extLst>
              <a:ext uri="{FF2B5EF4-FFF2-40B4-BE49-F238E27FC236}">
                <a16:creationId xmlns:a16="http://schemas.microsoft.com/office/drawing/2014/main" id="{CA1D7C9D-9E08-9075-9F65-42DE06B42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026" y="4938527"/>
            <a:ext cx="1679450" cy="176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F6CB98-36C5-38E5-0DF0-29D3168418DC}"/>
              </a:ext>
            </a:extLst>
          </p:cNvPr>
          <p:cNvSpPr txBox="1"/>
          <p:nvPr/>
        </p:nvSpPr>
        <p:spPr>
          <a:xfrm>
            <a:off x="0" y="15764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chemeClr val="accent4">
                    <a:lumMod val="60000"/>
                    <a:lumOff val="40000"/>
                  </a:schemeClr>
                </a:solidFill>
                <a:latin typeface="Lato Black" panose="020F0A02020204030203" pitchFamily="34" charset="0"/>
              </a:rPr>
              <a:t>DATA ANALYST </a:t>
            </a:r>
            <a:r>
              <a:rPr lang="en-IN" sz="3600" dirty="0">
                <a:solidFill>
                  <a:schemeClr val="bg1"/>
                </a:solidFill>
                <a:latin typeface="Lato Black" panose="020F0A02020204030203" pitchFamily="34" charset="0"/>
              </a:rPr>
              <a:t>PORTFOLIO PROJECT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907EC3-CB54-081F-6806-59FB3EDC3F65}"/>
              </a:ext>
            </a:extLst>
          </p:cNvPr>
          <p:cNvSpPr txBox="1"/>
          <p:nvPr/>
        </p:nvSpPr>
        <p:spPr>
          <a:xfrm>
            <a:off x="475491" y="1102030"/>
            <a:ext cx="11240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rgbClr val="FFFF00"/>
                </a:solidFill>
                <a:latin typeface="Lato Black" panose="020F0A02020204030203" pitchFamily="34" charset="0"/>
              </a:rPr>
              <a:t>BANK LOAN ANALYSIS</a:t>
            </a:r>
          </a:p>
        </p:txBody>
      </p:sp>
    </p:spTree>
    <p:extLst>
      <p:ext uri="{BB962C8B-B14F-4D97-AF65-F5344CB8AC3E}">
        <p14:creationId xmlns:p14="http://schemas.microsoft.com/office/powerpoint/2010/main" val="4288530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SOFTWARE USED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77C5A-2770-C97F-8953-E1F5A24DD560}"/>
              </a:ext>
            </a:extLst>
          </p:cNvPr>
          <p:cNvSpPr txBox="1"/>
          <p:nvPr/>
        </p:nvSpPr>
        <p:spPr>
          <a:xfrm>
            <a:off x="327804" y="1366935"/>
            <a:ext cx="8648700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MS OFFICE/ EXCEL: 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VERSION 2021</a:t>
            </a:r>
          </a:p>
          <a:p>
            <a:endParaRPr lang="en-IN" sz="2500" b="1" dirty="0">
              <a:solidFill>
                <a:schemeClr val="accent6">
                  <a:lumMod val="60000"/>
                  <a:lumOff val="4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SQL SERVER MANAGEMENT STUDIO 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– 19.0.20209.0</a:t>
            </a:r>
          </a:p>
          <a:p>
            <a:endParaRPr lang="en-IN" sz="2500" b="1" dirty="0">
              <a:solidFill>
                <a:schemeClr val="accent6">
                  <a:lumMod val="60000"/>
                  <a:lumOff val="4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IN" sz="2500" b="1" dirty="0">
                <a:solidFill>
                  <a:srgbClr val="FFFF00"/>
                </a:solidFill>
                <a:latin typeface="Century Gothic" panose="020B0502020202020204" pitchFamily="34" charset="0"/>
              </a:rPr>
              <a:t>POWER BI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: Latest  Version </a:t>
            </a:r>
          </a:p>
        </p:txBody>
      </p:sp>
    </p:spTree>
    <p:extLst>
      <p:ext uri="{BB962C8B-B14F-4D97-AF65-F5344CB8AC3E}">
        <p14:creationId xmlns:p14="http://schemas.microsoft.com/office/powerpoint/2010/main" val="2444031829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A3D0D-DDF0-B75E-2E66-13E023613410}"/>
              </a:ext>
            </a:extLst>
          </p:cNvPr>
          <p:cNvSpPr txBox="1"/>
          <p:nvPr/>
        </p:nvSpPr>
        <p:spPr>
          <a:xfrm>
            <a:off x="603850" y="1310135"/>
            <a:ext cx="1940943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WRITING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DF014E-E113-E267-1E2F-E2465BD5AC91}"/>
              </a:ext>
            </a:extLst>
          </p:cNvPr>
          <p:cNvSpPr txBox="1"/>
          <p:nvPr/>
        </p:nvSpPr>
        <p:spPr>
          <a:xfrm>
            <a:off x="2544794" y="1310135"/>
            <a:ext cx="1858993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6BBC7-AD07-89BE-CDAF-EF8C8ED20231}"/>
              </a:ext>
            </a:extLst>
          </p:cNvPr>
          <p:cNvSpPr txBox="1"/>
          <p:nvPr/>
        </p:nvSpPr>
        <p:spPr>
          <a:xfrm>
            <a:off x="2603736" y="119959"/>
            <a:ext cx="5047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5">
                    <a:lumMod val="20000"/>
                    <a:lumOff val="80000"/>
                  </a:schemeClr>
                </a:solidFill>
                <a:latin typeface="Lato Black" panose="020F0A02020204030203" pitchFamily="34" charset="0"/>
              </a:rPr>
              <a:t>MS SQL SERVER</a:t>
            </a:r>
          </a:p>
        </p:txBody>
      </p:sp>
      <p:pic>
        <p:nvPicPr>
          <p:cNvPr id="5" name="Picture 12" descr="Sql server - Free logo icons">
            <a:extLst>
              <a:ext uri="{FF2B5EF4-FFF2-40B4-BE49-F238E27FC236}">
                <a16:creationId xmlns:a16="http://schemas.microsoft.com/office/drawing/2014/main" id="{A5FA9380-85A3-5EB1-2C9B-1C4ABB8EF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8079" y="171703"/>
            <a:ext cx="779253" cy="77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Logo Mysql PNG Images, Free Download - Free Transparent PNG Logos">
            <a:extLst>
              <a:ext uri="{FF2B5EF4-FFF2-40B4-BE49-F238E27FC236}">
                <a16:creationId xmlns:a16="http://schemas.microsoft.com/office/drawing/2014/main" id="{3E80D00F-6EA5-9A4C-EC8A-63F38E357D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018" y="251038"/>
            <a:ext cx="620658" cy="651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A6FD57-88FE-9417-94A8-05E1D5F38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2" y="2194639"/>
            <a:ext cx="11600196" cy="421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425389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D37F5C-B498-7E9E-7268-B898BED7C5C1}"/>
              </a:ext>
            </a:extLst>
          </p:cNvPr>
          <p:cNvSpPr txBox="1"/>
          <p:nvPr/>
        </p:nvSpPr>
        <p:spPr>
          <a:xfrm>
            <a:off x="2670913" y="3293972"/>
            <a:ext cx="68493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Lato Black" panose="020F0A02020204030203" pitchFamily="34" charset="0"/>
              </a:rPr>
              <a:t>POWER BI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F6CB98-36C5-38E5-0DF0-29D3168418DC}"/>
              </a:ext>
            </a:extLst>
          </p:cNvPr>
          <p:cNvSpPr txBox="1"/>
          <p:nvPr/>
        </p:nvSpPr>
        <p:spPr>
          <a:xfrm>
            <a:off x="0" y="15764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rgbClr val="00B0F0"/>
                </a:solidFill>
                <a:latin typeface="Lato Black" panose="020F0A02020204030203" pitchFamily="34" charset="0"/>
              </a:rPr>
              <a:t>DATA ANALYST </a:t>
            </a:r>
            <a:r>
              <a:rPr lang="en-IN" sz="3600" dirty="0">
                <a:solidFill>
                  <a:schemeClr val="bg1"/>
                </a:solidFill>
                <a:latin typeface="Lato Black" panose="020F0A02020204030203" pitchFamily="34" charset="0"/>
              </a:rPr>
              <a:t>PORTFOLIO PROJECT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907EC3-CB54-081F-6806-59FB3EDC3F65}"/>
              </a:ext>
            </a:extLst>
          </p:cNvPr>
          <p:cNvSpPr txBox="1"/>
          <p:nvPr/>
        </p:nvSpPr>
        <p:spPr>
          <a:xfrm>
            <a:off x="475491" y="1102030"/>
            <a:ext cx="11240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rgbClr val="FFFF00"/>
                </a:solidFill>
                <a:latin typeface="Lato Black" panose="020F0A02020204030203" pitchFamily="34" charset="0"/>
              </a:rPr>
              <a:t>BANK LOAN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65E50B-F93A-78F0-AFD4-036E6BED0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969" y="4399579"/>
            <a:ext cx="3619260" cy="203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682535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5492AE-9AD7-DEAB-9741-FFEB9D5B71D4}"/>
              </a:ext>
            </a:extLst>
          </p:cNvPr>
          <p:cNvSpPr txBox="1"/>
          <p:nvPr/>
        </p:nvSpPr>
        <p:spPr>
          <a:xfrm>
            <a:off x="436352" y="1232497"/>
            <a:ext cx="3471414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IN" sz="3600" b="1" dirty="0">
                <a:solidFill>
                  <a:schemeClr val="accent4"/>
                </a:solidFill>
              </a:rPr>
              <a:t>CONNECTING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21082-DB76-800E-F7F3-8336A6EA7FD6}"/>
              </a:ext>
            </a:extLst>
          </p:cNvPr>
          <p:cNvSpPr txBox="1"/>
          <p:nvPr/>
        </p:nvSpPr>
        <p:spPr>
          <a:xfrm>
            <a:off x="3914583" y="1235891"/>
            <a:ext cx="3204184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MS SQL SERVER</a:t>
            </a:r>
          </a:p>
        </p:txBody>
      </p:sp>
      <p:pic>
        <p:nvPicPr>
          <p:cNvPr id="4" name="Picture 12" descr="Sql server - Free logo icons">
            <a:extLst>
              <a:ext uri="{FF2B5EF4-FFF2-40B4-BE49-F238E27FC236}">
                <a16:creationId xmlns:a16="http://schemas.microsoft.com/office/drawing/2014/main" id="{530262F7-0CF1-8814-2372-D74F015AA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409" y="2494495"/>
            <a:ext cx="2513849" cy="3015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lugs connection outline symbol in a circle - Free interface icons">
            <a:extLst>
              <a:ext uri="{FF2B5EF4-FFF2-40B4-BE49-F238E27FC236}">
                <a16:creationId xmlns:a16="http://schemas.microsoft.com/office/drawing/2014/main" id="{D843DAAA-B6CB-2BDC-8B67-6C86E9DBE4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257"/>
          <a:stretch/>
        </p:blipFill>
        <p:spPr bwMode="auto">
          <a:xfrm>
            <a:off x="4675950" y="2246966"/>
            <a:ext cx="1631368" cy="351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Plugs connection outline symbol in a circle - Free interface icons">
            <a:extLst>
              <a:ext uri="{FF2B5EF4-FFF2-40B4-BE49-F238E27FC236}">
                <a16:creationId xmlns:a16="http://schemas.microsoft.com/office/drawing/2014/main" id="{E6AE5A0C-BEA4-521E-FE4C-84F4DDA317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27"/>
          <a:stretch/>
        </p:blipFill>
        <p:spPr bwMode="auto">
          <a:xfrm>
            <a:off x="5961956" y="2246966"/>
            <a:ext cx="1327880" cy="351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1A663B-B474-C93D-79E3-4C1BA09D56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866" y="2863504"/>
            <a:ext cx="4095498" cy="230371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D6708C9-92D4-A8AB-D92C-7739A128687A}"/>
              </a:ext>
            </a:extLst>
          </p:cNvPr>
          <p:cNvGrpSpPr/>
          <p:nvPr/>
        </p:nvGrpSpPr>
        <p:grpSpPr>
          <a:xfrm>
            <a:off x="373261" y="119959"/>
            <a:ext cx="5164897" cy="830997"/>
            <a:chOff x="373261" y="119959"/>
            <a:chExt cx="5164897" cy="83099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B791A-4265-ACD2-ED42-7D2A386E758E}"/>
                </a:ext>
              </a:extLst>
            </p:cNvPr>
            <p:cNvSpPr txBox="1"/>
            <p:nvPr/>
          </p:nvSpPr>
          <p:spPr>
            <a:xfrm>
              <a:off x="1508184" y="119959"/>
              <a:ext cx="402997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4800" dirty="0">
                  <a:solidFill>
                    <a:srgbClr val="FFFF00"/>
                  </a:solidFill>
                  <a:latin typeface="Lato Black" panose="020F0A02020204030203" pitchFamily="34" charset="0"/>
                </a:rPr>
                <a:t>POWER BI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B691991-C41B-CFEF-7AEE-431CB4C11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261" y="185235"/>
              <a:ext cx="1245234" cy="7004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9948971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964A68-B481-FDBC-FBB9-52425E65C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049" y="832889"/>
            <a:ext cx="10399902" cy="583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926839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3AA4628-0EE3-7EC4-C370-2A0B2BE64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4" y="850340"/>
            <a:ext cx="10380852" cy="582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19717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C99B5-5307-E4E4-0E72-DE3504B0A583}"/>
              </a:ext>
            </a:extLst>
          </p:cNvPr>
          <p:cNvSpPr txBox="1"/>
          <p:nvPr/>
        </p:nvSpPr>
        <p:spPr>
          <a:xfrm>
            <a:off x="157903" y="185738"/>
            <a:ext cx="1943416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rgbClr val="FFFF00"/>
                </a:solidFill>
              </a:rPr>
              <a:t>POWER BI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843937-0252-6408-B4D5-06B6D9531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544" y="185738"/>
            <a:ext cx="1039601" cy="584775"/>
          </a:xfrm>
          <a:prstGeom prst="rect">
            <a:avLst/>
          </a:prstGeom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0D7939-6504-7430-B6E9-29AEB10BA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86" y="827541"/>
            <a:ext cx="10409427" cy="5844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695337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1: SUMMARY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71600"/>
            <a:ext cx="11835622" cy="5404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 Performance Indicators (KPIs) Requirements:</a:t>
            </a:r>
            <a:endParaRPr lang="en-IN" sz="2400" kern="100" dirty="0"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1800" b="1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Loan Applications:</a:t>
            </a:r>
            <a:r>
              <a:rPr lang="en-IN" sz="1800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need to calculate the total number of loan applications received during a specified period. Additionally, it is essential to monitor the Month-to-Date (MTD) Loan Applications and track changes Month-over-Month (MoM).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Funded Amount: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Understanding the total amount of funds disbursed as loans is crucial. We also want to keep an eye on the MTD Total Funded Amount and analyse the Month-over-Month (MoM) changes in this metric.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Amount Received: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Tracking the total amount received from borrowers is essential for assessing the bank's cash flow and loan repayment. We should analyse the Month-to-Date (MTD) Total Amount Received and observe the Month-over-Month (MoM) changes.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Average Interest Rate: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Calculating the average interest rate across all loans, MTD, and monitoring the Month-over-Month (MoM) variations in interest rates will provide insights into our lending portfolio's overall cost.</a:t>
            </a: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IN" b="1" kern="100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Average Debt-to-Income Ratio (DTI): </a:t>
            </a:r>
            <a:r>
              <a:rPr lang="en-IN" sz="1800" kern="100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Evaluating the average DTI for our borrowers helps us gauge their financial health. We need to compute the average DTI for all loans, MTD, and track Month-over-Month (MoM) fluctuations.</a:t>
            </a:r>
          </a:p>
        </p:txBody>
      </p:sp>
    </p:spTree>
    <p:extLst>
      <p:ext uri="{BB962C8B-B14F-4D97-AF65-F5344CB8AC3E}">
        <p14:creationId xmlns:p14="http://schemas.microsoft.com/office/powerpoint/2010/main" val="2377672083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1: SUMMARY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08552" y="1381840"/>
            <a:ext cx="4981575" cy="2496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v Bad Loan KPI’s</a:t>
            </a:r>
          </a:p>
          <a:p>
            <a:endParaRPr lang="en-IN" sz="1200" b="1" kern="100" dirty="0">
              <a:solidFill>
                <a:schemeClr val="accent2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IN" sz="2000" b="1" kern="100" dirty="0">
                <a:solidFill>
                  <a:srgbClr val="00B0F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Loan: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Application Percentage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Applications</a:t>
            </a:r>
            <a:endParaRPr lang="en-IN" sz="24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Funded Amount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Good Loan Total Received Amount</a:t>
            </a:r>
            <a:endParaRPr lang="en-IN" sz="24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36B1B-46BC-47F8-6C86-7B04F62B2F7F}"/>
              </a:ext>
            </a:extLst>
          </p:cNvPr>
          <p:cNvSpPr txBox="1"/>
          <p:nvPr/>
        </p:nvSpPr>
        <p:spPr>
          <a:xfrm>
            <a:off x="7001874" y="1966615"/>
            <a:ext cx="4391025" cy="1911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kern="100" dirty="0">
                <a:solidFill>
                  <a:srgbClr val="00B0F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Application Percentage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Applications</a:t>
            </a:r>
            <a:endParaRPr lang="en-IN" sz="24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Funded Amount</a:t>
            </a:r>
            <a:endParaRPr lang="en-IN" sz="2400" b="1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1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Bad Loan Total Received Amount</a:t>
            </a:r>
            <a:endParaRPr lang="en-IN" sz="24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340642-52BE-80AC-4C5E-F8F223F9BB8F}"/>
              </a:ext>
            </a:extLst>
          </p:cNvPr>
          <p:cNvSpPr txBox="1"/>
          <p:nvPr/>
        </p:nvSpPr>
        <p:spPr>
          <a:xfrm>
            <a:off x="228599" y="4159439"/>
            <a:ext cx="11572876" cy="2026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800"/>
              </a:spcAft>
            </a:pPr>
            <a:r>
              <a:rPr lang="en-IN" sz="2400" b="1" kern="1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Status Grid View</a:t>
            </a:r>
          </a:p>
          <a:p>
            <a:pPr algn="just">
              <a:spcAft>
                <a:spcPts val="800"/>
              </a:spcAft>
            </a:pPr>
            <a:r>
              <a:rPr lang="en-IN" sz="19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order to gain a comprehensive overview of our lending operations and monitor the performance of loans, we aim to create a grid view report categorized by 'Loan Status.’ By providing insights into metrics such as 'Total Loan Applications,' 'Total Funded Amount,' 'Total Amount Received,' 'Month-to-Date (MTD) Funded Amount,' 'MTD Amount Received,' 'Average Interest Rate,' and 'Average Debt-to-Income Ratio (DTI),' this grid view will empower us to make data-driven decisions and assess the health of our loan portfolio.</a:t>
            </a:r>
            <a:endParaRPr lang="en-IN" sz="1900" b="1" kern="1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89533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2: OVERVIEW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14450"/>
            <a:ext cx="11420475" cy="5401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Monthly Trends by Issue Date (Line Chart):  </a:t>
            </a:r>
            <a:r>
              <a:rPr lang="en-IN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</a:t>
            </a:r>
            <a:r>
              <a:rPr lang="en-IN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identify seasonality and long-term trends in lending activities</a:t>
            </a:r>
            <a:endParaRPr lang="en-IN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Regional Analysis by State (Filled Map</a:t>
            </a: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):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identify regions with significant lending activity and assess regional disparities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Term Analysis (Donut Chart):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allow the client to understand the distribution of loans across various term lengths.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Employee Length Analysis (Bar Chart):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lending metrics are distributed among borrowers with different employment lengths, helping us assess the impact of employment history on loan applications.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Loan Purpose Breakdown (Bar Chart): </a:t>
            </a:r>
            <a:r>
              <a:rPr lang="en-IN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ill provide a visual breakdown of loan metrics based on the stated purposes of loans, aiding in the understanding of the primary reasons borrowers seek financing.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Home Ownership Analysis (Tree Map):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a hierarchical view of how home ownership impacts loan applications and disbursements.</a:t>
            </a:r>
            <a:endParaRPr lang="en-IN" b="1" kern="100" dirty="0">
              <a:solidFill>
                <a:schemeClr val="accent2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IN" b="1" i="1" u="sng" kern="100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Metrics to be shown: 'Total Loan Applications,' 'Total Funded Amount,' and 'Total Amount Received'</a:t>
            </a:r>
          </a:p>
        </p:txBody>
      </p:sp>
    </p:spTree>
    <p:extLst>
      <p:ext uri="{BB962C8B-B14F-4D97-AF65-F5344CB8AC3E}">
        <p14:creationId xmlns:p14="http://schemas.microsoft.com/office/powerpoint/2010/main" val="1142964218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b="1" dirty="0">
                <a:solidFill>
                  <a:schemeClr val="bg1"/>
                </a:solidFill>
                <a:latin typeface="Lato Black" panose="020F0A02020204030203" pitchFamily="34" charset="0"/>
              </a:rPr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8CA99-5896-CF6F-E3D9-47410F2EEA1D}"/>
              </a:ext>
            </a:extLst>
          </p:cNvPr>
          <p:cNvSpPr txBox="1"/>
          <p:nvPr/>
        </p:nvSpPr>
        <p:spPr>
          <a:xfrm>
            <a:off x="127778" y="781050"/>
            <a:ext cx="3629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kern="10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highlight>
                  <a:srgbClr val="008000"/>
                </a:highligh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DASHBOARD 3: DETAILS</a:t>
            </a:r>
            <a:endParaRPr lang="en-IN" sz="2400" kern="100" dirty="0">
              <a:solidFill>
                <a:schemeClr val="accent4">
                  <a:lumMod val="60000"/>
                  <a:lumOff val="40000"/>
                </a:schemeClr>
              </a:solidFill>
              <a:effectLst/>
              <a:highlight>
                <a:srgbClr val="0080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EF215-20BB-527A-E72D-12F6F9355EC2}"/>
              </a:ext>
            </a:extLst>
          </p:cNvPr>
          <p:cNvSpPr txBox="1"/>
          <p:nvPr/>
        </p:nvSpPr>
        <p:spPr>
          <a:xfrm>
            <a:off x="228600" y="1314450"/>
            <a:ext cx="11420475" cy="5057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kern="10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GRID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Need for a comprehensive 'Details Dashboard' that provides a consolidated view of all the essential information within our loan data. This Details Dashboard aims to offer a holistic snapshot of key loan-related metrics and data points, enabling users to access critical information efficiently.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b="1" i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Objective:</a:t>
            </a:r>
            <a:endParaRPr lang="en-IN" sz="2000" b="1" kern="10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i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primary objective of the Details Dashboard is to provide a comprehensive and user-friendly interface for accessing vital loan data.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n-IN" sz="2000" i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It will serve as a one-stop solution for users seeking detailed insights into our loan portfolio, borrower profiles, and loan performance.</a:t>
            </a:r>
            <a:endParaRPr lang="en-IN" sz="2000" kern="10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800" b="1" kern="100" dirty="0"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897694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186767-6DBF-43ED-0334-E389A8026F75}"/>
              </a:ext>
            </a:extLst>
          </p:cNvPr>
          <p:cNvSpPr txBox="1"/>
          <p:nvPr/>
        </p:nvSpPr>
        <p:spPr>
          <a:xfrm>
            <a:off x="127778" y="57150"/>
            <a:ext cx="939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r>
              <a:rPr lang="en-IN" sz="3200" dirty="0"/>
              <a:t>FUNCTIONALITIES YOU WILL LEARN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646760-0DB5-6324-7B30-1D918A65A865}"/>
              </a:ext>
            </a:extLst>
          </p:cNvPr>
          <p:cNvSpPr txBox="1"/>
          <p:nvPr/>
        </p:nvSpPr>
        <p:spPr>
          <a:xfrm>
            <a:off x="1647825" y="1144432"/>
            <a:ext cx="290907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Creating Database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Creating Table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Select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Datename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Datepart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Cast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Decimal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Month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Hour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Quarter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Group by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Order by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Decimal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Limit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Count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Distinct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CTE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Partition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CDC267-C4AE-056C-B4A2-9F57B5EF2822}"/>
              </a:ext>
            </a:extLst>
          </p:cNvPr>
          <p:cNvSpPr txBox="1"/>
          <p:nvPr/>
        </p:nvSpPr>
        <p:spPr>
          <a:xfrm>
            <a:off x="1631335" y="767141"/>
            <a:ext cx="2663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Rockwell Extra Bold" panose="02060903040505020403" pitchFamily="18" charset="0"/>
              </a:rPr>
              <a:t>SQL – MS SQL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41D8C-EC5D-22DE-B591-0E506E4E2BA6}"/>
              </a:ext>
            </a:extLst>
          </p:cNvPr>
          <p:cNvSpPr txBox="1"/>
          <p:nvPr/>
        </p:nvSpPr>
        <p:spPr>
          <a:xfrm>
            <a:off x="6400798" y="1140838"/>
            <a:ext cx="3048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Connecting to SQL Server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Cleaning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Modelling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Data Processing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Power Query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Date Tables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Date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Text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Filter Function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Calculate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SUM/ SUMX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KPI’s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New Card Visual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Charts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Formatting visuals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Creating Functions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Navigations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D39873-19FF-7E34-62AE-83E4D322A2EE}"/>
              </a:ext>
            </a:extLst>
          </p:cNvPr>
          <p:cNvSpPr txBox="1"/>
          <p:nvPr/>
        </p:nvSpPr>
        <p:spPr>
          <a:xfrm>
            <a:off x="6661925" y="767141"/>
            <a:ext cx="17867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FF00"/>
                </a:solidFill>
                <a:latin typeface="Rockwell Extra Bold" panose="02060903040505020403" pitchFamily="18" charset="0"/>
              </a:rPr>
              <a:t>POWER BI</a:t>
            </a:r>
          </a:p>
        </p:txBody>
      </p:sp>
    </p:spTree>
    <p:extLst>
      <p:ext uri="{BB962C8B-B14F-4D97-AF65-F5344CB8AC3E}">
        <p14:creationId xmlns:p14="http://schemas.microsoft.com/office/powerpoint/2010/main" val="639557344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762</Words>
  <Application>Microsoft Office PowerPoint</Application>
  <PresentationFormat>Widescreen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Century Gothic</vt:lpstr>
      <vt:lpstr>Lato Black</vt:lpstr>
      <vt:lpstr>Rockwell Extra 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Swapnajeet A</dc:creator>
  <cp:lastModifiedBy>vinay kumar</cp:lastModifiedBy>
  <cp:revision>17</cp:revision>
  <dcterms:created xsi:type="dcterms:W3CDTF">2023-10-07T01:44:58Z</dcterms:created>
  <dcterms:modified xsi:type="dcterms:W3CDTF">2026-04-07T19:06:57Z</dcterms:modified>
</cp:coreProperties>
</file>